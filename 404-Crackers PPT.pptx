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Inter" panose="020B0604020202020204" charset="0"/>
      <p:regular r:id="rId13"/>
      <p:bold r:id="rId14"/>
      <p:italic r:id="rId15"/>
      <p:bold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83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/>
              <a:t>‹#›</a:t>
            </a:fld>
            <a:endParaRPr sz="1200" b="0" i="0" u="none" strike="noStrike" cap="none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3" name="Google Shape;5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4" name="Google Shape;6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3" name="Google Shape;83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01" name="Google Shape;101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12" name="Google Shape;11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27" name="Google Shape;127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53" name="Google Shape;153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76" name="Google Shape;176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95" name="Google Shape;195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224" name="Google Shape;224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 master">
  <p:cSld name="Slide 1 master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3" name="Google Shape;13;p2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2 master">
  <p:cSld name="Slide 2 master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7" name="Google Shape;17;p3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3 master">
  <p:cSld name="Slide 3 master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1" name="Google Shape;21;p4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4 master">
  <p:cSld name="Slide 4 master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5" name="Google Shape;25;p5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5 master">
  <p:cSld name="Slide 5 master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9" name="Google Shape;29;p6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6 master">
  <p:cSld name="Slide 6 master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3" name="Google Shape;33;p7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7 master">
  <p:cSld name="Slide 7 mast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7" name="Google Shape;37;p8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8 master">
  <p:cSld name="Slide 8 master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1" name="Google Shape;41;p9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9 master">
  <p:cSld name="Slide 9 master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5" name="Google Shape;45;p10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10 master">
  <p:cSld name="Slide 10 master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9" name="Google Shape;49;p11" descr="preencoded.png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1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/>
          <p:nvPr/>
        </p:nvSpPr>
        <p:spPr>
          <a:xfrm>
            <a:off x="6280190" y="2223254"/>
            <a:ext cx="7556421" cy="14175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 algn="ctr">
              <a:lnSpc>
                <a:spcPct val="124719"/>
              </a:lnSpc>
              <a:buSzPts val="4450"/>
            </a:pPr>
            <a:r>
              <a:rPr lang="en-US" sz="4800" b="1" dirty="0"/>
              <a:t>FairBid – Real-Time Fair Auction System</a:t>
            </a:r>
            <a:endParaRPr sz="4450" b="1" i="0" u="none" strike="noStrike" cap="none" dirty="0"/>
          </a:p>
        </p:txBody>
      </p:sp>
      <p:sp>
        <p:nvSpPr>
          <p:cNvPr id="58" name="Google Shape;58;p13"/>
          <p:cNvSpPr/>
          <p:nvPr/>
        </p:nvSpPr>
        <p:spPr>
          <a:xfrm>
            <a:off x="6280190" y="3980974"/>
            <a:ext cx="7556421" cy="3629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lang="en-US" sz="1750" b="0" i="1" u="none" strike="noStrike" cap="none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Team Name · </a:t>
            </a:r>
            <a:r>
              <a:rPr lang="en-US" sz="1750" i="1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404 Crackers</a:t>
            </a:r>
            <a:r>
              <a:rPr lang="en-US" sz="1750" b="0" i="1" u="none" strike="noStrike" cap="none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· </a:t>
            </a:r>
            <a:r>
              <a:rPr lang="en-US" sz="1750" b="0" i="1" u="none" strike="noStrike" cap="none" dirty="0" err="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HackFusion</a:t>
            </a:r>
            <a:endParaRPr sz="1750" b="0" i="0" u="none" strike="noStrike" cap="none" dirty="0"/>
          </a:p>
        </p:txBody>
      </p:sp>
      <p:sp>
        <p:nvSpPr>
          <p:cNvPr id="59" name="Google Shape;59;p13"/>
          <p:cNvSpPr/>
          <p:nvPr/>
        </p:nvSpPr>
        <p:spPr>
          <a:xfrm>
            <a:off x="7529870" y="4599027"/>
            <a:ext cx="5056942" cy="426244"/>
          </a:xfrm>
          <a:prstGeom prst="roundRect">
            <a:avLst>
              <a:gd name="adj" fmla="val 17880"/>
            </a:avLst>
          </a:prstGeom>
          <a:solidFill>
            <a:srgbClr val="DADB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13"/>
          <p:cNvSpPr/>
          <p:nvPr/>
        </p:nvSpPr>
        <p:spPr>
          <a:xfrm>
            <a:off x="7665958" y="4667012"/>
            <a:ext cx="4784765" cy="290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0714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00"/>
              <a:buFont typeface="Inter"/>
              <a:buNone/>
            </a:pPr>
            <a:r>
              <a:rPr lang="en-US" sz="1400" b="0" i="0" u="none" strike="noStrike" cap="none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TEAM MEMBERS: </a:t>
            </a:r>
            <a:r>
              <a:rPr lang="en-US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Anand</a:t>
            </a:r>
            <a:r>
              <a:rPr lang="en-US" sz="1400" b="0" i="0" u="none" strike="noStrike" cap="none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· </a:t>
            </a:r>
            <a:r>
              <a:rPr lang="en-US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Amith</a:t>
            </a:r>
            <a:r>
              <a:rPr lang="en-US" sz="1400" b="0" i="0" u="none" strike="noStrike" cap="none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· Kartik · Prashant</a:t>
            </a:r>
            <a:endParaRPr sz="1400" b="0" i="0" u="none" strike="noStrike" cap="none" dirty="0"/>
          </a:p>
        </p:txBody>
      </p:sp>
      <p:sp>
        <p:nvSpPr>
          <p:cNvPr id="61" name="Google Shape;61;p13"/>
          <p:cNvSpPr/>
          <p:nvPr/>
        </p:nvSpPr>
        <p:spPr>
          <a:xfrm>
            <a:off x="6280190" y="5280422"/>
            <a:ext cx="7556421" cy="725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 algn="ctr">
              <a:lnSpc>
                <a:spcPct val="162857"/>
              </a:lnSpc>
              <a:buClr>
                <a:srgbClr val="272525"/>
              </a:buClr>
              <a:buSzPts val="1750"/>
            </a:pPr>
            <a:r>
              <a:rPr lang="en-US" sz="1800" dirty="0"/>
              <a:t>“Eliminating unfair advantages in online auctions through real-time intelligent bidding.”</a:t>
            </a:r>
            <a:endParaRPr sz="1750" b="0" i="0" u="none" strike="noStrike" cap="none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4"/>
          <p:cNvSpPr/>
          <p:nvPr/>
        </p:nvSpPr>
        <p:spPr>
          <a:xfrm>
            <a:off x="744260" y="1060728"/>
            <a:ext cx="7577257" cy="664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301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150"/>
              <a:buFont typeface="Inter"/>
              <a:buNone/>
            </a:pPr>
            <a:r>
              <a:rPr lang="en-US" sz="415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Problem Statement Overview</a:t>
            </a:r>
            <a:endParaRPr sz="4150" b="0" i="0" u="none" strike="noStrike" cap="none"/>
          </a:p>
        </p:txBody>
      </p:sp>
      <p:sp>
        <p:nvSpPr>
          <p:cNvPr id="69" name="Google Shape;69;p14"/>
          <p:cNvSpPr/>
          <p:nvPr/>
        </p:nvSpPr>
        <p:spPr>
          <a:xfrm>
            <a:off x="744260" y="2024182"/>
            <a:ext cx="7655481" cy="1581983"/>
          </a:xfrm>
          <a:prstGeom prst="roundRect">
            <a:avLst>
              <a:gd name="adj" fmla="val 6936"/>
            </a:avLst>
          </a:prstGeom>
          <a:solidFill>
            <a:srgbClr val="FFFFFF"/>
          </a:solidFill>
          <a:ln w="22850" cap="flat" cmpd="sng">
            <a:solidFill>
              <a:srgbClr val="C0C1D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14"/>
          <p:cNvSpPr/>
          <p:nvPr/>
        </p:nvSpPr>
        <p:spPr>
          <a:xfrm>
            <a:off x="721400" y="2024182"/>
            <a:ext cx="91440" cy="1581983"/>
          </a:xfrm>
          <a:prstGeom prst="roundRect">
            <a:avLst>
              <a:gd name="adj" fmla="val 97674"/>
            </a:avLst>
          </a:prstGeom>
          <a:solidFill>
            <a:srgbClr val="4950B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14"/>
          <p:cNvSpPr/>
          <p:nvPr/>
        </p:nvSpPr>
        <p:spPr>
          <a:xfrm>
            <a:off x="1048345" y="2259687"/>
            <a:ext cx="2658070" cy="332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6829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050"/>
              <a:buFont typeface="Inter"/>
              <a:buNone/>
            </a:pPr>
            <a:r>
              <a:rPr lang="en-US" sz="2050" b="1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The Problem</a:t>
            </a:r>
            <a:endParaRPr sz="2050" b="0" i="0" u="none" strike="noStrike" cap="none"/>
          </a:p>
        </p:txBody>
      </p:sp>
      <p:sp>
        <p:nvSpPr>
          <p:cNvPr id="72" name="Google Shape;72;p14"/>
          <p:cNvSpPr/>
          <p:nvPr/>
        </p:nvSpPr>
        <p:spPr>
          <a:xfrm>
            <a:off x="1048345" y="2711529"/>
            <a:ext cx="7115889" cy="659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buClr>
                <a:srgbClr val="272525"/>
              </a:buClr>
              <a:buSzPts val="1650"/>
            </a:pPr>
            <a:r>
              <a:rPr lang="en-US" sz="1600" dirty="0"/>
              <a:t>Online auctions are unfair due to network latency and last-second bidding. Users with faster internet gain an unfair advantage, leading to biased outcomes and loss of trust.</a:t>
            </a:r>
            <a:endParaRPr sz="1600" b="0" i="0" u="none" strike="noStrike" cap="none" dirty="0"/>
          </a:p>
        </p:txBody>
      </p:sp>
      <p:sp>
        <p:nvSpPr>
          <p:cNvPr id="73" name="Google Shape;73;p14"/>
          <p:cNvSpPr/>
          <p:nvPr/>
        </p:nvSpPr>
        <p:spPr>
          <a:xfrm>
            <a:off x="744260" y="3805476"/>
            <a:ext cx="7655481" cy="1581983"/>
          </a:xfrm>
          <a:prstGeom prst="roundRect">
            <a:avLst>
              <a:gd name="adj" fmla="val 6936"/>
            </a:avLst>
          </a:prstGeom>
          <a:solidFill>
            <a:srgbClr val="FFFFFF"/>
          </a:solidFill>
          <a:ln w="22850" cap="flat" cmpd="sng">
            <a:solidFill>
              <a:srgbClr val="C0C1D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14"/>
          <p:cNvSpPr/>
          <p:nvPr/>
        </p:nvSpPr>
        <p:spPr>
          <a:xfrm>
            <a:off x="721400" y="3805476"/>
            <a:ext cx="91440" cy="1581983"/>
          </a:xfrm>
          <a:prstGeom prst="roundRect">
            <a:avLst>
              <a:gd name="adj" fmla="val 97674"/>
            </a:avLst>
          </a:prstGeom>
          <a:solidFill>
            <a:srgbClr val="4950B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14"/>
          <p:cNvSpPr/>
          <p:nvPr/>
        </p:nvSpPr>
        <p:spPr>
          <a:xfrm>
            <a:off x="1048345" y="4040981"/>
            <a:ext cx="2658070" cy="332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6829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050"/>
              <a:buFont typeface="Inter"/>
              <a:buNone/>
            </a:pPr>
            <a:r>
              <a:rPr lang="en-US" sz="2050" b="1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Domain / Category</a:t>
            </a:r>
            <a:endParaRPr sz="2050" b="0" i="0" u="none" strike="noStrike" cap="none"/>
          </a:p>
        </p:txBody>
      </p:sp>
      <p:sp>
        <p:nvSpPr>
          <p:cNvPr id="76" name="Google Shape;76;p14"/>
          <p:cNvSpPr/>
          <p:nvPr/>
        </p:nvSpPr>
        <p:spPr>
          <a:xfrm>
            <a:off x="1048345" y="4492823"/>
            <a:ext cx="7115889" cy="659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54545"/>
              </a:lnSpc>
              <a:buClr>
                <a:srgbClr val="272525"/>
              </a:buClr>
              <a:buSzPts val="1650"/>
            </a:pPr>
            <a:r>
              <a:rPr lang="en-US" sz="1800" dirty="0"/>
              <a:t>FinTech / Real-Time Systems</a:t>
            </a:r>
            <a:endParaRPr sz="1650" b="0" i="0" u="none" strike="noStrike" cap="none" dirty="0"/>
          </a:p>
        </p:txBody>
      </p:sp>
      <p:sp>
        <p:nvSpPr>
          <p:cNvPr id="77" name="Google Shape;77;p14"/>
          <p:cNvSpPr/>
          <p:nvPr/>
        </p:nvSpPr>
        <p:spPr>
          <a:xfrm>
            <a:off x="744260" y="5586770"/>
            <a:ext cx="7655481" cy="1581983"/>
          </a:xfrm>
          <a:prstGeom prst="roundRect">
            <a:avLst>
              <a:gd name="adj" fmla="val 6936"/>
            </a:avLst>
          </a:prstGeom>
          <a:solidFill>
            <a:srgbClr val="FFFFFF"/>
          </a:solidFill>
          <a:ln w="22850" cap="flat" cmpd="sng">
            <a:solidFill>
              <a:srgbClr val="C0C1D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14"/>
          <p:cNvSpPr/>
          <p:nvPr/>
        </p:nvSpPr>
        <p:spPr>
          <a:xfrm>
            <a:off x="721400" y="5586770"/>
            <a:ext cx="91440" cy="1581983"/>
          </a:xfrm>
          <a:prstGeom prst="roundRect">
            <a:avLst>
              <a:gd name="adj" fmla="val 97674"/>
            </a:avLst>
          </a:prstGeom>
          <a:solidFill>
            <a:srgbClr val="4950B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14"/>
          <p:cNvSpPr/>
          <p:nvPr/>
        </p:nvSpPr>
        <p:spPr>
          <a:xfrm>
            <a:off x="1048345" y="5822275"/>
            <a:ext cx="2658070" cy="3323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6829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050"/>
              <a:buFont typeface="Inter"/>
              <a:buNone/>
            </a:pPr>
            <a:r>
              <a:rPr lang="en-US" sz="2050" b="1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Why It Matters</a:t>
            </a:r>
            <a:endParaRPr sz="2050" b="0" i="0" u="none" strike="noStrike" cap="none"/>
          </a:p>
        </p:txBody>
      </p:sp>
      <p:sp>
        <p:nvSpPr>
          <p:cNvPr id="80" name="Google Shape;80;p14"/>
          <p:cNvSpPr/>
          <p:nvPr/>
        </p:nvSpPr>
        <p:spPr>
          <a:xfrm>
            <a:off x="1048345" y="6274118"/>
            <a:ext cx="7115889" cy="6591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buClr>
                <a:srgbClr val="272525"/>
              </a:buClr>
              <a:buSzPts val="1650"/>
            </a:pPr>
            <a:r>
              <a:rPr lang="en-US" sz="1800" dirty="0"/>
              <a:t>Millions of users participate in auctions daily, but unfair systems discourage participation, reduce transparency, and cause financial loss.</a:t>
            </a:r>
            <a:endParaRPr sz="1650" b="0" i="0" u="none" strike="noStrike" cap="none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5"/>
          <p:cNvSpPr/>
          <p:nvPr/>
        </p:nvSpPr>
        <p:spPr>
          <a:xfrm>
            <a:off x="834628" y="574715"/>
            <a:ext cx="5119688" cy="586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602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50"/>
              <a:buFont typeface="Inter"/>
              <a:buNone/>
            </a:pPr>
            <a:r>
              <a:rPr lang="en-US" sz="365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Background &amp; Context</a:t>
            </a:r>
            <a:endParaRPr sz="3650" b="0" i="0" u="none" strike="noStrike" cap="none"/>
          </a:p>
        </p:txBody>
      </p:sp>
      <p:sp>
        <p:nvSpPr>
          <p:cNvPr id="87" name="Google Shape;87;p15"/>
          <p:cNvSpPr/>
          <p:nvPr/>
        </p:nvSpPr>
        <p:spPr>
          <a:xfrm>
            <a:off x="834628" y="3282553"/>
            <a:ext cx="2347912" cy="293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Inter"/>
              <a:buNone/>
            </a:pPr>
            <a:r>
              <a:rPr lang="en-US" sz="18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Current Situation</a:t>
            </a:r>
            <a:endParaRPr sz="1800" b="0" i="0" u="none" strike="noStrike" cap="none"/>
          </a:p>
        </p:txBody>
      </p:sp>
      <p:sp>
        <p:nvSpPr>
          <p:cNvPr id="88" name="Google Shape;88;p15"/>
          <p:cNvSpPr/>
          <p:nvPr/>
        </p:nvSpPr>
        <p:spPr>
          <a:xfrm>
            <a:off x="834628" y="3731538"/>
            <a:ext cx="4238506" cy="824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r>
              <a:rPr lang="en-US" sz="1600" dirty="0"/>
              <a:t>Most auction platforms:</a:t>
            </a:r>
          </a:p>
          <a:p>
            <a:r>
              <a:rPr lang="en-US" sz="1600" dirty="0"/>
              <a:t>Favor faster connections </a:t>
            </a:r>
          </a:p>
          <a:p>
            <a:r>
              <a:rPr lang="en-US" sz="1600" dirty="0"/>
              <a:t>Allow last-second “sniping” </a:t>
            </a:r>
          </a:p>
          <a:p>
            <a:r>
              <a:rPr lang="en-US" sz="1600" dirty="0"/>
              <a:t>Lack fairness mechanisms</a:t>
            </a:r>
          </a:p>
          <a:p>
            <a:pPr marL="0" marR="0" lvl="0" indent="0" algn="l" rtl="0">
              <a:lnSpc>
                <a:spcPct val="14827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Inter"/>
              <a:buNone/>
            </a:pPr>
            <a:endParaRPr sz="1450" b="0" i="0" u="none" strike="noStrike" cap="none" dirty="0"/>
          </a:p>
        </p:txBody>
      </p:sp>
      <p:pic>
        <p:nvPicPr>
          <p:cNvPr id="89" name="Google Shape;89;p1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38907" y="1569839"/>
            <a:ext cx="8264247" cy="4682966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5"/>
          <p:cNvSpPr/>
          <p:nvPr/>
        </p:nvSpPr>
        <p:spPr>
          <a:xfrm>
            <a:off x="834628" y="6602611"/>
            <a:ext cx="4216598" cy="1052155"/>
          </a:xfrm>
          <a:prstGeom prst="roundRect">
            <a:avLst>
              <a:gd name="adj" fmla="val 7498"/>
            </a:avLst>
          </a:prstGeom>
          <a:solidFill>
            <a:srgbClr val="DADBF1"/>
          </a:solidFill>
          <a:ln w="9525" cap="flat" cmpd="sng">
            <a:solidFill>
              <a:srgbClr val="C0C1D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15"/>
          <p:cNvSpPr/>
          <p:nvPr/>
        </p:nvSpPr>
        <p:spPr>
          <a:xfrm>
            <a:off x="1030010" y="6797993"/>
            <a:ext cx="2347912" cy="293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00"/>
              <a:buFont typeface="Inter"/>
              <a:buNone/>
            </a:pPr>
            <a:r>
              <a:rPr lang="en-US" sz="1800" b="1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Stat 1</a:t>
            </a:r>
            <a:endParaRPr sz="1800" b="0" i="0" u="none" strike="noStrike" cap="none"/>
          </a:p>
        </p:txBody>
      </p:sp>
      <p:sp>
        <p:nvSpPr>
          <p:cNvPr id="92" name="Google Shape;92;p15"/>
          <p:cNvSpPr/>
          <p:nvPr/>
        </p:nvSpPr>
        <p:spPr>
          <a:xfrm>
            <a:off x="1030010" y="7184708"/>
            <a:ext cx="3825835" cy="2746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827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Inter"/>
              <a:buNone/>
            </a:pPr>
            <a:r>
              <a:rPr lang="en-US" sz="1450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70</a:t>
            </a:r>
            <a:r>
              <a:rPr lang="en-US" sz="1450" b="0" i="0" u="none" strike="noStrike" cap="none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% of users affected</a:t>
            </a:r>
            <a:endParaRPr sz="1450" b="0" i="0" u="none" strike="noStrike" cap="none" dirty="0"/>
          </a:p>
        </p:txBody>
      </p:sp>
      <p:sp>
        <p:nvSpPr>
          <p:cNvPr id="93" name="Google Shape;93;p15"/>
          <p:cNvSpPr/>
          <p:nvPr/>
        </p:nvSpPr>
        <p:spPr>
          <a:xfrm>
            <a:off x="5206722" y="6602611"/>
            <a:ext cx="4216718" cy="1052155"/>
          </a:xfrm>
          <a:prstGeom prst="roundRect">
            <a:avLst>
              <a:gd name="adj" fmla="val 7498"/>
            </a:avLst>
          </a:prstGeom>
          <a:solidFill>
            <a:srgbClr val="DADBF1"/>
          </a:solidFill>
          <a:ln w="9525" cap="flat" cmpd="sng">
            <a:solidFill>
              <a:srgbClr val="C0C1D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15"/>
          <p:cNvSpPr/>
          <p:nvPr/>
        </p:nvSpPr>
        <p:spPr>
          <a:xfrm>
            <a:off x="5402104" y="6797993"/>
            <a:ext cx="2347912" cy="293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00"/>
              <a:buFont typeface="Inter"/>
              <a:buNone/>
            </a:pPr>
            <a:r>
              <a:rPr lang="en-US" sz="1800" b="1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Stat 2</a:t>
            </a:r>
            <a:endParaRPr sz="1800" b="0" i="0" u="none" strike="noStrike" cap="none"/>
          </a:p>
        </p:txBody>
      </p:sp>
      <p:sp>
        <p:nvSpPr>
          <p:cNvPr id="95" name="Google Shape;95;p15"/>
          <p:cNvSpPr/>
          <p:nvPr/>
        </p:nvSpPr>
        <p:spPr>
          <a:xfrm>
            <a:off x="5402104" y="7184708"/>
            <a:ext cx="3825954" cy="2746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827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Inter"/>
              <a:buNone/>
            </a:pPr>
            <a:r>
              <a:rPr lang="en-US" sz="1450" b="0" i="0" u="none" strike="noStrike" cap="none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$5B+ market size</a:t>
            </a:r>
            <a:endParaRPr sz="1450" b="0" i="0" u="none" strike="noStrike" cap="none" dirty="0"/>
          </a:p>
        </p:txBody>
      </p:sp>
      <p:sp>
        <p:nvSpPr>
          <p:cNvPr id="96" name="Google Shape;96;p15"/>
          <p:cNvSpPr/>
          <p:nvPr/>
        </p:nvSpPr>
        <p:spPr>
          <a:xfrm>
            <a:off x="9578935" y="6602611"/>
            <a:ext cx="4216718" cy="1052155"/>
          </a:xfrm>
          <a:prstGeom prst="roundRect">
            <a:avLst>
              <a:gd name="adj" fmla="val 7498"/>
            </a:avLst>
          </a:prstGeom>
          <a:solidFill>
            <a:srgbClr val="DADBF1"/>
          </a:solidFill>
          <a:ln w="9525" cap="flat" cmpd="sng">
            <a:solidFill>
              <a:srgbClr val="C0C1D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15"/>
          <p:cNvSpPr/>
          <p:nvPr/>
        </p:nvSpPr>
        <p:spPr>
          <a:xfrm>
            <a:off x="9774317" y="6797993"/>
            <a:ext cx="2347912" cy="293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777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800"/>
              <a:buFont typeface="Inter"/>
              <a:buNone/>
            </a:pPr>
            <a:r>
              <a:rPr lang="en-US" sz="1800" b="1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Stat 3</a:t>
            </a:r>
            <a:endParaRPr sz="1800" b="0" i="0" u="none" strike="noStrike" cap="none"/>
          </a:p>
        </p:txBody>
      </p:sp>
      <p:sp>
        <p:nvSpPr>
          <p:cNvPr id="98" name="Google Shape;98;p15"/>
          <p:cNvSpPr/>
          <p:nvPr/>
        </p:nvSpPr>
        <p:spPr>
          <a:xfrm>
            <a:off x="9774317" y="7184708"/>
            <a:ext cx="3825954" cy="2746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8275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50"/>
              <a:buFont typeface="Inter"/>
              <a:buNone/>
            </a:pPr>
            <a:r>
              <a:rPr lang="en-US" sz="1450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Crores of</a:t>
            </a:r>
            <a:r>
              <a:rPr lang="en-US" sz="1450" b="0" i="0" u="none" strike="noStrike" cap="none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450" b="0" i="0" u="none" strike="noStrike" cap="none" dirty="0" err="1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hrs</a:t>
            </a:r>
            <a:r>
              <a:rPr lang="en-US" sz="1450" b="0" i="0" u="none" strike="noStrike" cap="none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lost/week</a:t>
            </a:r>
            <a:endParaRPr sz="1450" b="0" i="0" u="none" strike="noStrike" cap="none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6"/>
          <p:cNvSpPr/>
          <p:nvPr/>
        </p:nvSpPr>
        <p:spPr>
          <a:xfrm>
            <a:off x="1079183" y="554831"/>
            <a:ext cx="4518779" cy="564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394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50"/>
              <a:buFont typeface="Inter"/>
              <a:buNone/>
            </a:pPr>
            <a:r>
              <a:rPr lang="en-US" sz="355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Problem Deep Dive</a:t>
            </a:r>
            <a:endParaRPr sz="3550" b="0" i="0" u="none" strike="noStrike" cap="none"/>
          </a:p>
        </p:txBody>
      </p:sp>
      <p:pic>
        <p:nvPicPr>
          <p:cNvPr id="105" name="Google Shape;105;p1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79183" y="1497449"/>
            <a:ext cx="6015395" cy="60153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6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0556" y="1512391"/>
            <a:ext cx="6015395" cy="6015395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6"/>
          <p:cNvSpPr/>
          <p:nvPr/>
        </p:nvSpPr>
        <p:spPr>
          <a:xfrm>
            <a:off x="7543205" y="3574137"/>
            <a:ext cx="2827139" cy="28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Inter"/>
              <a:buNone/>
            </a:pPr>
            <a:r>
              <a:rPr lang="en-US" sz="175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Unpacking the Core Issue</a:t>
            </a:r>
            <a:endParaRPr sz="1750" b="0" i="0" u="none" strike="noStrike" cap="none"/>
          </a:p>
        </p:txBody>
      </p:sp>
      <p:sp>
        <p:nvSpPr>
          <p:cNvPr id="108" name="Google Shape;108;p16"/>
          <p:cNvSpPr/>
          <p:nvPr/>
        </p:nvSpPr>
        <p:spPr>
          <a:xfrm>
            <a:off x="7543205" y="4000500"/>
            <a:ext cx="6015395" cy="5195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00"/>
              <a:buFont typeface="Inter"/>
              <a:buNone/>
            </a:pPr>
            <a:r>
              <a:rPr lang="en-US" sz="1400" b="0" i="0" u="none" strike="noStrike" cap="none" dirty="0"/>
              <a:t>Data Transparency issue and other financial scams in the name of auction, bots in auction</a:t>
            </a:r>
            <a:endParaRPr sz="1400" b="0" i="0" u="none" strike="noStrike" cap="none" dirty="0"/>
          </a:p>
        </p:txBody>
      </p:sp>
      <p:sp>
        <p:nvSpPr>
          <p:cNvPr id="109" name="Google Shape;109;p16"/>
          <p:cNvSpPr/>
          <p:nvPr/>
        </p:nvSpPr>
        <p:spPr>
          <a:xfrm>
            <a:off x="7543205" y="4649629"/>
            <a:ext cx="6015395" cy="8801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42857"/>
              </a:lnSpc>
              <a:buClr>
                <a:srgbClr val="272525"/>
              </a:buClr>
              <a:buSzPts val="1400"/>
            </a:pPr>
            <a:r>
              <a:rPr lang="en-US" sz="1400" b="1" i="0" u="none" strike="noStrike" cap="none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Who : </a:t>
            </a:r>
            <a:r>
              <a:rPr lang="en-US" dirty="0"/>
              <a:t>Buyers, sellers, and auction platforms</a:t>
            </a:r>
            <a:endParaRPr sz="1400" b="0" i="0" u="none" strike="noStrike" cap="none" dirty="0"/>
          </a:p>
          <a:p>
            <a:pPr lvl="0">
              <a:lnSpc>
                <a:spcPct val="142857"/>
              </a:lnSpc>
              <a:buClr>
                <a:srgbClr val="272525"/>
              </a:buClr>
              <a:buSzPts val="1400"/>
            </a:pPr>
            <a:r>
              <a:rPr lang="en-US" sz="1400" b="1" i="0" u="none" strike="noStrike" cap="none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When &amp; Where:</a:t>
            </a:r>
            <a:r>
              <a:rPr lang="en-US" sz="1400" b="0" i="0" u="none" strike="noStrike" cap="none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dirty="0"/>
              <a:t>Online real-time auctions (e-commerce, NFTs, bidding 		platforms)</a:t>
            </a:r>
          </a:p>
          <a:p>
            <a:r>
              <a:rPr lang="en-US" sz="1400" b="1" i="0" u="none" strike="noStrike" cap="none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Root Causes:</a:t>
            </a:r>
            <a:br>
              <a:rPr lang="en-US" sz="1400" b="1" i="0" u="none" strike="noStrike" cap="none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400" b="1" i="0" u="none" strike="noStrike" cap="none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	        </a:t>
            </a:r>
            <a:r>
              <a:rPr lang="en-US" dirty="0"/>
              <a:t>Network latency differences </a:t>
            </a:r>
          </a:p>
          <a:p>
            <a:r>
              <a:rPr lang="en-US" dirty="0"/>
              <a:t>	      No server-side fairness validation </a:t>
            </a:r>
          </a:p>
          <a:p>
            <a:r>
              <a:rPr lang="en-US" dirty="0"/>
              <a:t>	      Race conditions in last-second bids </a:t>
            </a:r>
          </a:p>
          <a:p>
            <a:pPr lvl="0">
              <a:lnSpc>
                <a:spcPct val="142857"/>
              </a:lnSpc>
              <a:buClr>
                <a:srgbClr val="272525"/>
              </a:buClr>
              <a:buSzPts val="1400"/>
            </a:pPr>
            <a:endParaRPr sz="1400" b="0" i="0" u="none" strike="noStrike" cap="none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7"/>
          <p:cNvSpPr/>
          <p:nvPr/>
        </p:nvSpPr>
        <p:spPr>
          <a:xfrm>
            <a:off x="793790" y="797243"/>
            <a:ext cx="8882539" cy="7087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50"/>
              <a:buFont typeface="Inter"/>
              <a:buNone/>
            </a:pPr>
            <a:r>
              <a:rPr lang="en-US" sz="4450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Target Audience &amp; Stakeholders</a:t>
            </a:r>
            <a:endParaRPr sz="4450" b="0" i="0" u="none" strike="noStrike" cap="none" dirty="0"/>
          </a:p>
        </p:txBody>
      </p:sp>
      <p:pic>
        <p:nvPicPr>
          <p:cNvPr id="116" name="Google Shape;116;p1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93790" y="2668310"/>
            <a:ext cx="1829753" cy="1829753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7"/>
          <p:cNvSpPr/>
          <p:nvPr/>
        </p:nvSpPr>
        <p:spPr>
          <a:xfrm>
            <a:off x="793790" y="4781550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Inter"/>
              <a:buNone/>
            </a:pPr>
            <a:r>
              <a:rPr lang="en-US" sz="2200" b="1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Primary User</a:t>
            </a:r>
            <a:endParaRPr sz="2200" b="0" i="0" u="none" strike="noStrike" cap="none"/>
          </a:p>
        </p:txBody>
      </p:sp>
      <p:sp>
        <p:nvSpPr>
          <p:cNvPr id="118" name="Google Shape;118;p17"/>
          <p:cNvSpPr/>
          <p:nvPr/>
        </p:nvSpPr>
        <p:spPr>
          <a:xfrm>
            <a:off x="793790" y="5271968"/>
            <a:ext cx="4158615" cy="145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62857"/>
              </a:lnSpc>
              <a:buClr>
                <a:srgbClr val="272525"/>
              </a:buClr>
              <a:buSzPts val="1750"/>
            </a:pPr>
            <a:r>
              <a:rPr lang="en-US" sz="1800" dirty="0"/>
              <a:t>Online bidders </a:t>
            </a:r>
          </a:p>
          <a:p>
            <a:pPr lvl="0">
              <a:lnSpc>
                <a:spcPct val="162857"/>
              </a:lnSpc>
              <a:buClr>
                <a:srgbClr val="272525"/>
              </a:buClr>
              <a:buSzPts val="1750"/>
            </a:pPr>
            <a:r>
              <a:rPr lang="en-US" sz="1800" dirty="0"/>
              <a:t>(18–40 years, tech users)</a:t>
            </a:r>
            <a:endParaRPr sz="1750" b="0" i="0" u="none" strike="noStrike" cap="none" dirty="0"/>
          </a:p>
        </p:txBody>
      </p:sp>
      <p:pic>
        <p:nvPicPr>
          <p:cNvPr id="119" name="Google Shape;119;p17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235893" y="2668310"/>
            <a:ext cx="1829753" cy="1829753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7"/>
          <p:cNvSpPr/>
          <p:nvPr/>
        </p:nvSpPr>
        <p:spPr>
          <a:xfrm>
            <a:off x="5235893" y="4781550"/>
            <a:ext cx="3243858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Inter"/>
              <a:buNone/>
            </a:pPr>
            <a:r>
              <a:rPr lang="en-US" sz="2200" b="1" i="0" u="none" strike="noStrike" cap="none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Secondary Stakeholder</a:t>
            </a:r>
            <a:endParaRPr sz="2200" b="0" i="0" u="none" strike="noStrike" cap="none" dirty="0"/>
          </a:p>
        </p:txBody>
      </p:sp>
      <p:sp>
        <p:nvSpPr>
          <p:cNvPr id="121" name="Google Shape;121;p17"/>
          <p:cNvSpPr/>
          <p:nvPr/>
        </p:nvSpPr>
        <p:spPr>
          <a:xfrm>
            <a:off x="5235059" y="5634870"/>
            <a:ext cx="4158615" cy="1088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62857"/>
              </a:lnSpc>
              <a:buClr>
                <a:srgbClr val="272525"/>
              </a:buClr>
              <a:buSzPts val="1750"/>
            </a:pPr>
            <a:r>
              <a:rPr lang="en-US" sz="1800" dirty="0"/>
              <a:t>Auction sellers/platforms</a:t>
            </a:r>
            <a:endParaRPr sz="1750" b="0" i="0" u="none" strike="noStrike" cap="none" dirty="0"/>
          </a:p>
        </p:txBody>
      </p:sp>
      <p:pic>
        <p:nvPicPr>
          <p:cNvPr id="122" name="Google Shape;122;p17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677995" y="2668310"/>
            <a:ext cx="1829753" cy="1829753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7"/>
          <p:cNvSpPr/>
          <p:nvPr/>
        </p:nvSpPr>
        <p:spPr>
          <a:xfrm>
            <a:off x="9677995" y="4781550"/>
            <a:ext cx="3802856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Inter"/>
              <a:buNone/>
            </a:pPr>
            <a:r>
              <a:rPr lang="en-US" sz="2200" b="1" i="0" u="none" strike="noStrike" cap="none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Influencer / Decision Maker</a:t>
            </a:r>
            <a:endParaRPr sz="2200" b="0" i="0" u="none" strike="noStrike" cap="none" dirty="0"/>
          </a:p>
        </p:txBody>
      </p:sp>
      <p:sp>
        <p:nvSpPr>
          <p:cNvPr id="124" name="Google Shape;124;p17"/>
          <p:cNvSpPr/>
          <p:nvPr/>
        </p:nvSpPr>
        <p:spPr>
          <a:xfrm>
            <a:off x="9677995" y="5634870"/>
            <a:ext cx="4158615" cy="1088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62857"/>
              </a:lnSpc>
              <a:buClr>
                <a:srgbClr val="272525"/>
              </a:buClr>
              <a:buSzPts val="1750"/>
            </a:pPr>
            <a:r>
              <a:rPr lang="en-US" sz="1800"/>
              <a:t>E-commerce companies, auction platforms</a:t>
            </a:r>
            <a:endParaRPr sz="1750" b="0" i="0" u="none" strike="noStrike" cap="none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8"/>
          <p:cNvSpPr/>
          <p:nvPr/>
        </p:nvSpPr>
        <p:spPr>
          <a:xfrm>
            <a:off x="776704" y="289560"/>
            <a:ext cx="6782157" cy="7087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50"/>
              <a:buFont typeface="Inter"/>
              <a:buNone/>
            </a:pPr>
            <a:r>
              <a:rPr lang="en-US" sz="4450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Pain Points &amp; Limitations</a:t>
            </a:r>
            <a:endParaRPr sz="4450" b="0" i="0" u="none" strike="noStrike" cap="none" dirty="0"/>
          </a:p>
        </p:txBody>
      </p:sp>
      <p:sp>
        <p:nvSpPr>
          <p:cNvPr id="131" name="Google Shape;131;p18"/>
          <p:cNvSpPr/>
          <p:nvPr/>
        </p:nvSpPr>
        <p:spPr>
          <a:xfrm>
            <a:off x="793790" y="1989892"/>
            <a:ext cx="6407944" cy="2774156"/>
          </a:xfrm>
          <a:prstGeom prst="roundRect">
            <a:avLst>
              <a:gd name="adj" fmla="val 3434"/>
            </a:avLst>
          </a:prstGeom>
          <a:solidFill>
            <a:srgbClr val="FFFFFF"/>
          </a:solidFill>
          <a:ln w="30475" cap="flat" cmpd="sng">
            <a:solidFill>
              <a:srgbClr val="C0C1D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18"/>
          <p:cNvSpPr/>
          <p:nvPr/>
        </p:nvSpPr>
        <p:spPr>
          <a:xfrm>
            <a:off x="824270" y="2020372"/>
            <a:ext cx="6346984" cy="680442"/>
          </a:xfrm>
          <a:prstGeom prst="roundRect">
            <a:avLst>
              <a:gd name="adj" fmla="val 8626"/>
            </a:avLst>
          </a:prstGeom>
          <a:solidFill>
            <a:srgbClr val="DADB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18"/>
          <p:cNvSpPr/>
          <p:nvPr/>
        </p:nvSpPr>
        <p:spPr>
          <a:xfrm>
            <a:off x="3827621" y="2144078"/>
            <a:ext cx="340162" cy="425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650"/>
              <a:buFont typeface="Inter"/>
              <a:buNone/>
            </a:pPr>
            <a:r>
              <a:rPr lang="en-US" sz="2650" b="1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sz="2650" b="0" i="0" u="none" strike="noStrike" cap="none"/>
          </a:p>
        </p:txBody>
      </p:sp>
      <p:sp>
        <p:nvSpPr>
          <p:cNvPr id="134" name="Google Shape;134;p18"/>
          <p:cNvSpPr/>
          <p:nvPr/>
        </p:nvSpPr>
        <p:spPr>
          <a:xfrm>
            <a:off x="1051084" y="2927628"/>
            <a:ext cx="4505654" cy="3543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Inter"/>
              <a:buNone/>
            </a:pPr>
            <a:r>
              <a:rPr lang="en-US" sz="2200" b="1" i="0" u="none" strike="noStrike" cap="none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Friction in Daily Workflow</a:t>
            </a:r>
            <a:endParaRPr sz="2200" b="0" i="0" u="none" strike="noStrike" cap="none" dirty="0"/>
          </a:p>
        </p:txBody>
      </p:sp>
      <p:sp>
        <p:nvSpPr>
          <p:cNvPr id="135" name="Google Shape;135;p18"/>
          <p:cNvSpPr/>
          <p:nvPr/>
        </p:nvSpPr>
        <p:spPr>
          <a:xfrm>
            <a:off x="1051084" y="3418046"/>
            <a:ext cx="5893356" cy="10887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62857"/>
              </a:lnSpc>
              <a:buClr>
                <a:srgbClr val="272525"/>
              </a:buClr>
              <a:buSzPts val="1750"/>
            </a:pPr>
            <a:r>
              <a:rPr lang="en-US" sz="1800" dirty="0"/>
              <a:t>Unfair bidding due to latency</a:t>
            </a:r>
            <a:endParaRPr sz="1750" b="0" i="0" u="none" strike="noStrike" cap="none" dirty="0"/>
          </a:p>
        </p:txBody>
      </p:sp>
      <p:sp>
        <p:nvSpPr>
          <p:cNvPr id="136" name="Google Shape;136;p18"/>
          <p:cNvSpPr/>
          <p:nvPr/>
        </p:nvSpPr>
        <p:spPr>
          <a:xfrm>
            <a:off x="7428548" y="1989892"/>
            <a:ext cx="6408063" cy="2774156"/>
          </a:xfrm>
          <a:prstGeom prst="roundRect">
            <a:avLst>
              <a:gd name="adj" fmla="val 3434"/>
            </a:avLst>
          </a:prstGeom>
          <a:solidFill>
            <a:srgbClr val="FFFFFF"/>
          </a:solidFill>
          <a:ln w="30475" cap="flat" cmpd="sng">
            <a:solidFill>
              <a:srgbClr val="C0C1D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18"/>
          <p:cNvSpPr/>
          <p:nvPr/>
        </p:nvSpPr>
        <p:spPr>
          <a:xfrm>
            <a:off x="7459027" y="2020372"/>
            <a:ext cx="6347103" cy="680442"/>
          </a:xfrm>
          <a:prstGeom prst="roundRect">
            <a:avLst>
              <a:gd name="adj" fmla="val 8626"/>
            </a:avLst>
          </a:prstGeom>
          <a:solidFill>
            <a:srgbClr val="DADB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18"/>
          <p:cNvSpPr/>
          <p:nvPr/>
        </p:nvSpPr>
        <p:spPr>
          <a:xfrm>
            <a:off x="10462498" y="2144078"/>
            <a:ext cx="340162" cy="425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650"/>
              <a:buFont typeface="Inter"/>
              <a:buNone/>
            </a:pPr>
            <a:r>
              <a:rPr lang="en-US" sz="2650" b="1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sz="2650" b="0" i="0" u="none" strike="noStrike" cap="none"/>
          </a:p>
        </p:txBody>
      </p:sp>
      <p:sp>
        <p:nvSpPr>
          <p:cNvPr id="139" name="Google Shape;139;p18"/>
          <p:cNvSpPr/>
          <p:nvPr/>
        </p:nvSpPr>
        <p:spPr>
          <a:xfrm>
            <a:off x="7685842" y="2927628"/>
            <a:ext cx="3603481" cy="6332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Inter"/>
              <a:buNone/>
            </a:pPr>
            <a:r>
              <a:rPr lang="en-US" sz="2200" b="1" i="0" u="none" strike="noStrike" cap="none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Lack of Real-Time Insight</a:t>
            </a:r>
            <a:endParaRPr sz="2200" b="0" i="0" u="none" strike="noStrike" cap="none" dirty="0"/>
          </a:p>
        </p:txBody>
      </p:sp>
      <p:sp>
        <p:nvSpPr>
          <p:cNvPr id="140" name="Google Shape;140;p18"/>
          <p:cNvSpPr/>
          <p:nvPr/>
        </p:nvSpPr>
        <p:spPr>
          <a:xfrm>
            <a:off x="7685842" y="3418046"/>
            <a:ext cx="5893475" cy="725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62857"/>
              </a:lnSpc>
              <a:buClr>
                <a:srgbClr val="272525"/>
              </a:buClr>
              <a:buSzPts val="1750"/>
            </a:pPr>
            <a:r>
              <a:rPr lang="en-US" sz="1800" dirty="0"/>
              <a:t>Last-second bid manipulation</a:t>
            </a:r>
            <a:endParaRPr sz="1750" b="0" i="0" u="none" strike="noStrike" cap="none" dirty="0"/>
          </a:p>
        </p:txBody>
      </p:sp>
      <p:sp>
        <p:nvSpPr>
          <p:cNvPr id="141" name="Google Shape;141;p18"/>
          <p:cNvSpPr/>
          <p:nvPr/>
        </p:nvSpPr>
        <p:spPr>
          <a:xfrm>
            <a:off x="793790" y="4990862"/>
            <a:ext cx="6407944" cy="2411254"/>
          </a:xfrm>
          <a:prstGeom prst="roundRect">
            <a:avLst>
              <a:gd name="adj" fmla="val 3951"/>
            </a:avLst>
          </a:prstGeom>
          <a:solidFill>
            <a:srgbClr val="FFFFFF"/>
          </a:solidFill>
          <a:ln w="30475" cap="flat" cmpd="sng">
            <a:solidFill>
              <a:srgbClr val="C0C1D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2" name="Google Shape;142;p18"/>
          <p:cNvSpPr/>
          <p:nvPr/>
        </p:nvSpPr>
        <p:spPr>
          <a:xfrm>
            <a:off x="824270" y="5021342"/>
            <a:ext cx="6346984" cy="680442"/>
          </a:xfrm>
          <a:prstGeom prst="roundRect">
            <a:avLst>
              <a:gd name="adj" fmla="val 8626"/>
            </a:avLst>
          </a:prstGeom>
          <a:solidFill>
            <a:srgbClr val="DADB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18"/>
          <p:cNvSpPr/>
          <p:nvPr/>
        </p:nvSpPr>
        <p:spPr>
          <a:xfrm>
            <a:off x="3827621" y="5145048"/>
            <a:ext cx="340162" cy="425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650"/>
              <a:buFont typeface="Inter"/>
              <a:buNone/>
            </a:pPr>
            <a:r>
              <a:rPr lang="en-US" sz="2650" b="1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sz="2650" b="0" i="0" u="none" strike="noStrike" cap="none"/>
          </a:p>
        </p:txBody>
      </p:sp>
      <p:sp>
        <p:nvSpPr>
          <p:cNvPr id="144" name="Google Shape;144;p18"/>
          <p:cNvSpPr/>
          <p:nvPr/>
        </p:nvSpPr>
        <p:spPr>
          <a:xfrm>
            <a:off x="1051084" y="5928597"/>
            <a:ext cx="3061930" cy="4904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Inter"/>
              <a:buNone/>
            </a:pPr>
            <a:r>
              <a:rPr lang="en-US" sz="2200" b="1" i="0" u="none" strike="noStrike" cap="none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Accessibility Barriers</a:t>
            </a:r>
            <a:endParaRPr sz="2200" b="0" i="0" u="none" strike="noStrike" cap="none" dirty="0"/>
          </a:p>
        </p:txBody>
      </p:sp>
      <p:sp>
        <p:nvSpPr>
          <p:cNvPr id="145" name="Google Shape;145;p18"/>
          <p:cNvSpPr/>
          <p:nvPr/>
        </p:nvSpPr>
        <p:spPr>
          <a:xfrm>
            <a:off x="1051084" y="6419017"/>
            <a:ext cx="5893356" cy="725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62857"/>
              </a:lnSpc>
              <a:buClr>
                <a:srgbClr val="272525"/>
              </a:buClr>
              <a:buSzPts val="1750"/>
            </a:pPr>
            <a:r>
              <a:rPr lang="en-US" sz="1800" dirty="0"/>
              <a:t>No transparency in winner selection</a:t>
            </a:r>
            <a:endParaRPr lang="en-US" sz="1750" b="0" i="0" u="none" strike="noStrike" cap="none" dirty="0"/>
          </a:p>
        </p:txBody>
      </p:sp>
      <p:sp>
        <p:nvSpPr>
          <p:cNvPr id="146" name="Google Shape;146;p18"/>
          <p:cNvSpPr/>
          <p:nvPr/>
        </p:nvSpPr>
        <p:spPr>
          <a:xfrm>
            <a:off x="7428548" y="4990862"/>
            <a:ext cx="6408063" cy="2411254"/>
          </a:xfrm>
          <a:prstGeom prst="roundRect">
            <a:avLst>
              <a:gd name="adj" fmla="val 3951"/>
            </a:avLst>
          </a:prstGeom>
          <a:solidFill>
            <a:srgbClr val="FFFFFF"/>
          </a:solidFill>
          <a:ln w="30475" cap="flat" cmpd="sng">
            <a:solidFill>
              <a:srgbClr val="C0C1D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18"/>
          <p:cNvSpPr/>
          <p:nvPr/>
        </p:nvSpPr>
        <p:spPr>
          <a:xfrm>
            <a:off x="7459027" y="5021342"/>
            <a:ext cx="6347103" cy="680442"/>
          </a:xfrm>
          <a:prstGeom prst="roundRect">
            <a:avLst>
              <a:gd name="adj" fmla="val 8626"/>
            </a:avLst>
          </a:prstGeom>
          <a:solidFill>
            <a:srgbClr val="DADB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8"/>
          <p:cNvSpPr/>
          <p:nvPr/>
        </p:nvSpPr>
        <p:spPr>
          <a:xfrm>
            <a:off x="10462498" y="5145048"/>
            <a:ext cx="340162" cy="425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650"/>
              <a:buFont typeface="Inter"/>
              <a:buNone/>
            </a:pPr>
            <a:r>
              <a:rPr lang="en-US" sz="2650" b="1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sz="2650" b="0" i="0" u="none" strike="noStrike" cap="none"/>
          </a:p>
        </p:txBody>
      </p:sp>
      <p:sp>
        <p:nvSpPr>
          <p:cNvPr id="149" name="Google Shape;149;p18"/>
          <p:cNvSpPr/>
          <p:nvPr/>
        </p:nvSpPr>
        <p:spPr>
          <a:xfrm>
            <a:off x="7685842" y="5928598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Inter"/>
              <a:buNone/>
            </a:pPr>
            <a:r>
              <a:rPr lang="en-US" sz="2200" b="1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No Unified Solution</a:t>
            </a:r>
            <a:endParaRPr sz="2200" b="0" i="0" u="none" strike="noStrike" cap="none"/>
          </a:p>
        </p:txBody>
      </p:sp>
      <p:sp>
        <p:nvSpPr>
          <p:cNvPr id="150" name="Google Shape;150;p18"/>
          <p:cNvSpPr/>
          <p:nvPr/>
        </p:nvSpPr>
        <p:spPr>
          <a:xfrm>
            <a:off x="7685842" y="6419017"/>
            <a:ext cx="5893475" cy="725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62857"/>
              </a:lnSpc>
              <a:buClr>
                <a:srgbClr val="272525"/>
              </a:buClr>
              <a:buSzPts val="1750"/>
            </a:pPr>
            <a:r>
              <a:rPr lang="en-US" sz="1800" dirty="0"/>
              <a:t>Multiple disconnected tools</a:t>
            </a:r>
            <a:endParaRPr sz="1750" b="0" i="0" u="none" strike="noStrike" cap="none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9"/>
          <p:cNvSpPr/>
          <p:nvPr/>
        </p:nvSpPr>
        <p:spPr>
          <a:xfrm>
            <a:off x="1079183" y="554831"/>
            <a:ext cx="5606772" cy="564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394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50"/>
              <a:buFont typeface="Inter"/>
              <a:buNone/>
            </a:pPr>
            <a:r>
              <a:rPr lang="en-US" sz="355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Existing Solutions &amp; Gaps</a:t>
            </a:r>
            <a:endParaRPr sz="3550" b="0" i="0" u="none" strike="noStrike" cap="none"/>
          </a:p>
        </p:txBody>
      </p:sp>
      <p:sp>
        <p:nvSpPr>
          <p:cNvPr id="157" name="Google Shape;157;p19"/>
          <p:cNvSpPr/>
          <p:nvPr/>
        </p:nvSpPr>
        <p:spPr>
          <a:xfrm>
            <a:off x="1079183" y="3027759"/>
            <a:ext cx="2259330" cy="2824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Inter"/>
              <a:buNone/>
            </a:pPr>
            <a:r>
              <a:rPr lang="en-US" sz="1750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What Exists Today</a:t>
            </a:r>
            <a:endParaRPr sz="1750" b="0" i="0" u="none" strike="noStrike" cap="none" dirty="0"/>
          </a:p>
        </p:txBody>
      </p:sp>
      <p:sp>
        <p:nvSpPr>
          <p:cNvPr id="158" name="Google Shape;158;p19"/>
          <p:cNvSpPr/>
          <p:nvPr/>
        </p:nvSpPr>
        <p:spPr>
          <a:xfrm>
            <a:off x="1079183" y="3454122"/>
            <a:ext cx="6015395" cy="5195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00"/>
              <a:buFont typeface="Inter"/>
              <a:buNone/>
            </a:pPr>
            <a:endParaRPr sz="1400" b="0" i="0" u="none" strike="noStrike" cap="none" dirty="0"/>
          </a:p>
        </p:txBody>
      </p:sp>
      <p:sp>
        <p:nvSpPr>
          <p:cNvPr id="160" name="Google Shape;160;p19"/>
          <p:cNvSpPr/>
          <p:nvPr/>
        </p:nvSpPr>
        <p:spPr>
          <a:xfrm>
            <a:off x="1452919" y="4300954"/>
            <a:ext cx="1634252" cy="259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00"/>
              <a:buFont typeface="Inter"/>
              <a:buNone/>
            </a:pPr>
            <a:endParaRPr sz="1400" b="0" i="0" u="none" strike="noStrike" cap="none" dirty="0"/>
          </a:p>
        </p:txBody>
      </p:sp>
      <p:sp>
        <p:nvSpPr>
          <p:cNvPr id="161" name="Google Shape;161;p19"/>
          <p:cNvSpPr/>
          <p:nvPr/>
        </p:nvSpPr>
        <p:spPr>
          <a:xfrm>
            <a:off x="3271718" y="4237196"/>
            <a:ext cx="1630442" cy="259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00"/>
              <a:buFont typeface="Inter"/>
              <a:buNone/>
            </a:pPr>
            <a:endParaRPr sz="1400" b="0" i="0" u="none" strike="noStrike" cap="none" dirty="0"/>
          </a:p>
        </p:txBody>
      </p:sp>
      <p:sp>
        <p:nvSpPr>
          <p:cNvPr id="162" name="Google Shape;162;p19"/>
          <p:cNvSpPr/>
          <p:nvPr/>
        </p:nvSpPr>
        <p:spPr>
          <a:xfrm>
            <a:off x="5271254" y="4237196"/>
            <a:ext cx="1634252" cy="259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00"/>
              <a:buFont typeface="Inter"/>
              <a:buNone/>
            </a:pPr>
            <a:endParaRPr sz="1400" b="0" i="0" u="none" strike="noStrike" cap="none" dirty="0"/>
          </a:p>
        </p:txBody>
      </p:sp>
      <p:sp>
        <p:nvSpPr>
          <p:cNvPr id="163" name="Google Shape;163;p19"/>
          <p:cNvSpPr/>
          <p:nvPr/>
        </p:nvSpPr>
        <p:spPr>
          <a:xfrm>
            <a:off x="1268373" y="4692491"/>
            <a:ext cx="1634252" cy="259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00"/>
              <a:buFont typeface="Inter"/>
              <a:buNone/>
            </a:pPr>
            <a:endParaRPr sz="1400" b="0" i="0" u="none" strike="noStrike" cap="none" dirty="0"/>
          </a:p>
        </p:txBody>
      </p:sp>
      <p:sp>
        <p:nvSpPr>
          <p:cNvPr id="164" name="Google Shape;164;p19"/>
          <p:cNvSpPr/>
          <p:nvPr/>
        </p:nvSpPr>
        <p:spPr>
          <a:xfrm>
            <a:off x="3271718" y="4692491"/>
            <a:ext cx="1630442" cy="259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00"/>
              <a:buFont typeface="Inter"/>
              <a:buNone/>
            </a:pPr>
            <a:endParaRPr sz="1400" b="0" i="0" u="none" strike="noStrike" cap="none" dirty="0"/>
          </a:p>
        </p:txBody>
      </p:sp>
      <p:sp>
        <p:nvSpPr>
          <p:cNvPr id="165" name="Google Shape;165;p19"/>
          <p:cNvSpPr/>
          <p:nvPr/>
        </p:nvSpPr>
        <p:spPr>
          <a:xfrm>
            <a:off x="5271254" y="4692491"/>
            <a:ext cx="1634252" cy="259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00"/>
              <a:buFont typeface="Inter"/>
              <a:buNone/>
            </a:pPr>
            <a:endParaRPr sz="1400" b="0" i="0" u="none" strike="noStrike" cap="none" dirty="0"/>
          </a:p>
        </p:txBody>
      </p:sp>
      <p:sp>
        <p:nvSpPr>
          <p:cNvPr id="166" name="Google Shape;166;p19"/>
          <p:cNvSpPr/>
          <p:nvPr/>
        </p:nvSpPr>
        <p:spPr>
          <a:xfrm>
            <a:off x="1268373" y="5147786"/>
            <a:ext cx="1634252" cy="259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00"/>
              <a:buFont typeface="Inter"/>
              <a:buNone/>
            </a:pPr>
            <a:endParaRPr sz="1400" b="0" i="0" u="none" strike="noStrike" cap="none" dirty="0"/>
          </a:p>
        </p:txBody>
      </p:sp>
      <p:sp>
        <p:nvSpPr>
          <p:cNvPr id="167" name="Google Shape;167;p19"/>
          <p:cNvSpPr/>
          <p:nvPr/>
        </p:nvSpPr>
        <p:spPr>
          <a:xfrm>
            <a:off x="3271718" y="5147786"/>
            <a:ext cx="1630442" cy="259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00"/>
              <a:buFont typeface="Inter"/>
              <a:buNone/>
            </a:pPr>
            <a:endParaRPr sz="1400" b="0" i="0" u="none" strike="noStrike" cap="none" dirty="0"/>
          </a:p>
        </p:txBody>
      </p:sp>
      <p:sp>
        <p:nvSpPr>
          <p:cNvPr id="168" name="Google Shape;168;p19"/>
          <p:cNvSpPr/>
          <p:nvPr/>
        </p:nvSpPr>
        <p:spPr>
          <a:xfrm>
            <a:off x="5271254" y="5147786"/>
            <a:ext cx="1634252" cy="259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00"/>
              <a:buFont typeface="Inter"/>
              <a:buNone/>
            </a:pPr>
            <a:endParaRPr sz="1400" b="0" i="0" u="none" strike="noStrike" cap="none" dirty="0"/>
          </a:p>
        </p:txBody>
      </p:sp>
      <p:sp>
        <p:nvSpPr>
          <p:cNvPr id="169" name="Google Shape;169;p19"/>
          <p:cNvSpPr/>
          <p:nvPr/>
        </p:nvSpPr>
        <p:spPr>
          <a:xfrm>
            <a:off x="1268373" y="5603081"/>
            <a:ext cx="1634252" cy="259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00"/>
              <a:buFont typeface="Inter"/>
              <a:buNone/>
            </a:pPr>
            <a:endParaRPr sz="1400" b="0" i="0" u="none" strike="noStrike" cap="none" dirty="0"/>
          </a:p>
        </p:txBody>
      </p:sp>
      <p:sp>
        <p:nvSpPr>
          <p:cNvPr id="170" name="Google Shape;170;p19"/>
          <p:cNvSpPr/>
          <p:nvPr/>
        </p:nvSpPr>
        <p:spPr>
          <a:xfrm>
            <a:off x="3271718" y="5603081"/>
            <a:ext cx="1630442" cy="259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00"/>
              <a:buFont typeface="Inter"/>
              <a:buNone/>
            </a:pPr>
            <a:endParaRPr sz="1400" b="0" i="0" u="none" strike="noStrike" cap="none" dirty="0"/>
          </a:p>
        </p:txBody>
      </p:sp>
      <p:sp>
        <p:nvSpPr>
          <p:cNvPr id="171" name="Google Shape;171;p19"/>
          <p:cNvSpPr/>
          <p:nvPr/>
        </p:nvSpPr>
        <p:spPr>
          <a:xfrm>
            <a:off x="5271254" y="5603081"/>
            <a:ext cx="1634252" cy="2597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4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400"/>
              <a:buFont typeface="Inter"/>
              <a:buNone/>
            </a:pPr>
            <a:endParaRPr sz="1400" b="0" i="0" u="none" strike="noStrike" cap="none" dirty="0"/>
          </a:p>
        </p:txBody>
      </p:sp>
      <p:pic>
        <p:nvPicPr>
          <p:cNvPr id="172" name="Google Shape;172;p19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543205" y="1497449"/>
            <a:ext cx="6015395" cy="60153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9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543205" y="1497449"/>
            <a:ext cx="6015395" cy="601539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14BEC77-47BF-BB3D-4340-0AD0DAD43EB7}"/>
              </a:ext>
            </a:extLst>
          </p:cNvPr>
          <p:cNvSpPr txBox="1"/>
          <p:nvPr/>
        </p:nvSpPr>
        <p:spPr>
          <a:xfrm>
            <a:off x="1268373" y="4560748"/>
            <a:ext cx="591787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ctr"/>
            <a:r>
              <a:rPr lang="en-US" b="1" dirty="0"/>
              <a:t>Solution</a:t>
            </a:r>
            <a:r>
              <a:rPr lang="en-US" dirty="0"/>
              <a:t>	                   </a:t>
            </a:r>
            <a:r>
              <a:rPr lang="en-US" b="1" dirty="0"/>
              <a:t>Strength</a:t>
            </a:r>
            <a:r>
              <a:rPr lang="en-US" dirty="0"/>
              <a:t>		</a:t>
            </a:r>
            <a:r>
              <a:rPr lang="en-US" b="1" dirty="0"/>
              <a:t>Gap</a:t>
            </a:r>
          </a:p>
          <a:p>
            <a:pPr fontAlgn="ctr"/>
            <a:endParaRPr lang="en-US" b="1" dirty="0"/>
          </a:p>
          <a:p>
            <a:pPr fontAlgn="ctr"/>
            <a:r>
              <a:rPr lang="en-US" dirty="0"/>
              <a:t>eBay Auctions	Popular		Sniping problem</a:t>
            </a:r>
          </a:p>
          <a:p>
            <a:pPr fontAlgn="ctr"/>
            <a:endParaRPr lang="en-US" dirty="0"/>
          </a:p>
          <a:p>
            <a:pPr fontAlgn="ctr"/>
            <a:r>
              <a:rPr lang="en-US" dirty="0"/>
              <a:t>Manual Auctions	Flexible		Slow &amp; unfair</a:t>
            </a:r>
          </a:p>
          <a:p>
            <a:pPr fontAlgn="ctr"/>
            <a:endParaRPr lang="en-US" dirty="0"/>
          </a:p>
          <a:p>
            <a:pPr fontAlgn="ctr"/>
            <a:r>
              <a:rPr lang="en-US" dirty="0"/>
              <a:t>Online Platforms  	Scalable		No latency control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20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4400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0"/>
          <p:cNvSpPr/>
          <p:nvPr/>
        </p:nvSpPr>
        <p:spPr>
          <a:xfrm>
            <a:off x="600075" y="52387"/>
            <a:ext cx="5418534" cy="6312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316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950"/>
              <a:buFont typeface="Inter"/>
              <a:buNone/>
            </a:pPr>
            <a:r>
              <a:rPr lang="en-US" sz="3950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Impact of the Problem</a:t>
            </a:r>
            <a:endParaRPr sz="3950" b="0" i="0" u="none" strike="noStrike" cap="none" dirty="0"/>
          </a:p>
        </p:txBody>
      </p:sp>
      <p:sp>
        <p:nvSpPr>
          <p:cNvPr id="181" name="Google Shape;181;p20"/>
          <p:cNvSpPr/>
          <p:nvPr/>
        </p:nvSpPr>
        <p:spPr>
          <a:xfrm>
            <a:off x="706993" y="1642229"/>
            <a:ext cx="3752612" cy="666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5200"/>
              <a:buFont typeface="Inter"/>
              <a:buNone/>
            </a:pPr>
            <a:r>
              <a:rPr lang="en-US" sz="5200" b="1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10</a:t>
            </a:r>
            <a:r>
              <a:rPr lang="en-US" sz="5200" b="1" i="0" u="none" strike="noStrike" cap="none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M+</a:t>
            </a:r>
            <a:endParaRPr sz="5200" b="0" i="0" u="none" strike="noStrike" cap="none" dirty="0"/>
          </a:p>
        </p:txBody>
      </p:sp>
      <p:sp>
        <p:nvSpPr>
          <p:cNvPr id="182" name="Google Shape;182;p20"/>
          <p:cNvSpPr/>
          <p:nvPr/>
        </p:nvSpPr>
        <p:spPr>
          <a:xfrm>
            <a:off x="1320641" y="2544723"/>
            <a:ext cx="2525197" cy="315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950"/>
              <a:buFont typeface="Inter"/>
              <a:buNone/>
            </a:pPr>
            <a:r>
              <a:rPr lang="en-US" sz="1950" b="1" i="0" u="none" strike="noStrike" cap="none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People Affected</a:t>
            </a:r>
            <a:endParaRPr sz="1950" b="0" i="0" u="none" strike="noStrike" cap="none" dirty="0"/>
          </a:p>
        </p:txBody>
      </p:sp>
      <p:sp>
        <p:nvSpPr>
          <p:cNvPr id="183" name="Google Shape;183;p20"/>
          <p:cNvSpPr/>
          <p:nvPr/>
        </p:nvSpPr>
        <p:spPr>
          <a:xfrm>
            <a:off x="706993" y="2968228"/>
            <a:ext cx="3752612" cy="6110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5483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50"/>
              <a:buFont typeface="Inter"/>
              <a:buNone/>
            </a:pPr>
            <a:r>
              <a:rPr lang="en-US" sz="1550" b="0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Estimated users facing this problem globally or regionally</a:t>
            </a:r>
            <a:endParaRPr sz="1550" b="0" i="0" u="none" strike="noStrike" cap="none"/>
          </a:p>
        </p:txBody>
      </p:sp>
      <p:sp>
        <p:nvSpPr>
          <p:cNvPr id="184" name="Google Shape;184;p20"/>
          <p:cNvSpPr/>
          <p:nvPr/>
        </p:nvSpPr>
        <p:spPr>
          <a:xfrm>
            <a:off x="4684395" y="1642229"/>
            <a:ext cx="3752612" cy="666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5200"/>
              <a:buFont typeface="Inter"/>
              <a:buNone/>
            </a:pPr>
            <a:r>
              <a:rPr lang="en-US" sz="5200" b="1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r>
              <a:rPr lang="en-US" sz="5200" b="1" i="0" u="none" strike="noStrike" cap="none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B$+</a:t>
            </a:r>
            <a:endParaRPr sz="5200" b="0" i="0" u="none" strike="noStrike" cap="none" dirty="0"/>
          </a:p>
        </p:txBody>
      </p:sp>
      <p:sp>
        <p:nvSpPr>
          <p:cNvPr id="185" name="Google Shape;185;p20"/>
          <p:cNvSpPr/>
          <p:nvPr/>
        </p:nvSpPr>
        <p:spPr>
          <a:xfrm>
            <a:off x="5298043" y="2544723"/>
            <a:ext cx="2525197" cy="315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950"/>
              <a:buFont typeface="Inter"/>
              <a:buNone/>
            </a:pPr>
            <a:r>
              <a:rPr lang="en-US" sz="1950" b="1" i="0" u="none" strike="noStrike" cap="none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Economic Loss</a:t>
            </a:r>
            <a:endParaRPr sz="1950" b="0" i="0" u="none" strike="noStrike" cap="none" dirty="0"/>
          </a:p>
        </p:txBody>
      </p:sp>
      <p:sp>
        <p:nvSpPr>
          <p:cNvPr id="186" name="Google Shape;186;p20"/>
          <p:cNvSpPr/>
          <p:nvPr/>
        </p:nvSpPr>
        <p:spPr>
          <a:xfrm>
            <a:off x="4684395" y="2968228"/>
            <a:ext cx="3752612" cy="6110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5483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50"/>
              <a:buFont typeface="Inter"/>
              <a:buNone/>
            </a:pPr>
            <a:r>
              <a:rPr lang="en-US" sz="1550" b="0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Annual cost to businesses, governments, or individuals</a:t>
            </a:r>
            <a:endParaRPr sz="1550" b="0" i="0" u="none" strike="noStrike" cap="none"/>
          </a:p>
        </p:txBody>
      </p:sp>
      <p:sp>
        <p:nvSpPr>
          <p:cNvPr id="187" name="Google Shape;187;p20"/>
          <p:cNvSpPr/>
          <p:nvPr/>
        </p:nvSpPr>
        <p:spPr>
          <a:xfrm>
            <a:off x="2695694" y="4040029"/>
            <a:ext cx="3752612" cy="6666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5200"/>
              <a:buFont typeface="Inter"/>
              <a:buNone/>
            </a:pPr>
            <a:r>
              <a:rPr lang="en-US" sz="5200" b="1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40</a:t>
            </a:r>
            <a:r>
              <a:rPr lang="en-US" sz="5200" b="1" i="0" u="none" strike="noStrike" cap="none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%</a:t>
            </a:r>
            <a:endParaRPr sz="5200" b="0" i="0" u="none" strike="noStrike" cap="none" dirty="0"/>
          </a:p>
        </p:txBody>
      </p:sp>
      <p:sp>
        <p:nvSpPr>
          <p:cNvPr id="188" name="Google Shape;188;p20"/>
          <p:cNvSpPr/>
          <p:nvPr/>
        </p:nvSpPr>
        <p:spPr>
          <a:xfrm>
            <a:off x="3309342" y="4942523"/>
            <a:ext cx="2525197" cy="315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950"/>
              <a:buFont typeface="Inter"/>
              <a:buNone/>
            </a:pPr>
            <a:r>
              <a:rPr lang="en-US" sz="1950" b="1" i="0" u="none" strike="noStrike" cap="none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Productivity Drop</a:t>
            </a:r>
            <a:endParaRPr sz="1950" b="0" i="0" u="none" strike="noStrike" cap="none" dirty="0"/>
          </a:p>
        </p:txBody>
      </p:sp>
      <p:sp>
        <p:nvSpPr>
          <p:cNvPr id="189" name="Google Shape;189;p20"/>
          <p:cNvSpPr/>
          <p:nvPr/>
        </p:nvSpPr>
        <p:spPr>
          <a:xfrm>
            <a:off x="2695694" y="5366028"/>
            <a:ext cx="3752612" cy="6110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54838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550"/>
              <a:buFont typeface="Inter"/>
              <a:buNone/>
            </a:pPr>
            <a:r>
              <a:rPr lang="en-US" sz="1550" b="0" i="0" u="none" strike="noStrike" cap="none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Efficiency lost due to the absence of a proper solution</a:t>
            </a:r>
            <a:endParaRPr sz="1550" b="0" i="0" u="none" strike="noStrike" cap="none" dirty="0"/>
          </a:p>
        </p:txBody>
      </p:sp>
      <p:sp>
        <p:nvSpPr>
          <p:cNvPr id="190" name="Google Shape;190;p20"/>
          <p:cNvSpPr/>
          <p:nvPr/>
        </p:nvSpPr>
        <p:spPr>
          <a:xfrm>
            <a:off x="706993" y="6179463"/>
            <a:ext cx="7730014" cy="1409819"/>
          </a:xfrm>
          <a:prstGeom prst="roundRect">
            <a:avLst>
              <a:gd name="adj" fmla="val 6018"/>
            </a:avLst>
          </a:prstGeom>
          <a:solidFill>
            <a:srgbClr val="FCF2B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91" name="Google Shape;191;p20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08923" y="6483787"/>
            <a:ext cx="252413" cy="20193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0"/>
          <p:cNvSpPr/>
          <p:nvPr/>
        </p:nvSpPr>
        <p:spPr>
          <a:xfrm>
            <a:off x="1363266" y="6409849"/>
            <a:ext cx="6871811" cy="9165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54838"/>
              </a:lnSpc>
              <a:buSzPts val="1550"/>
            </a:pPr>
            <a:r>
              <a:rPr lang="en-US" sz="1600" dirty="0"/>
              <a:t>If not solved → trust in digital auctions will decline</a:t>
            </a:r>
            <a:endParaRPr sz="1550" b="0" i="0" u="none" strike="noStrike" cap="none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1"/>
          <p:cNvSpPr/>
          <p:nvPr/>
        </p:nvSpPr>
        <p:spPr>
          <a:xfrm>
            <a:off x="706993" y="308669"/>
            <a:ext cx="8176022" cy="7087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50"/>
              <a:buFont typeface="Inter"/>
              <a:buNone/>
            </a:pPr>
            <a:r>
              <a:rPr lang="en-US" sz="4450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Objectives &amp; Success Criteria</a:t>
            </a:r>
            <a:endParaRPr sz="4450" b="0" i="0" u="none" strike="noStrike" cap="none" dirty="0"/>
          </a:p>
        </p:txBody>
      </p:sp>
      <p:sp>
        <p:nvSpPr>
          <p:cNvPr id="199" name="Google Shape;199;p21"/>
          <p:cNvSpPr/>
          <p:nvPr/>
        </p:nvSpPr>
        <p:spPr>
          <a:xfrm>
            <a:off x="1218962" y="2211050"/>
            <a:ext cx="4415112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Inter"/>
              <a:buNone/>
            </a:pPr>
            <a:r>
              <a:rPr lang="en-US" sz="2200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What the Solution Will Achieve</a:t>
            </a:r>
            <a:endParaRPr sz="2200" b="0" i="0" u="none" strike="noStrike" cap="none" dirty="0"/>
          </a:p>
        </p:txBody>
      </p:sp>
      <p:pic>
        <p:nvPicPr>
          <p:cNvPr id="200" name="Google Shape;200;p2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8800" y="2862977"/>
            <a:ext cx="340162" cy="340162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1"/>
          <p:cNvSpPr/>
          <p:nvPr/>
        </p:nvSpPr>
        <p:spPr>
          <a:xfrm>
            <a:off x="1530906" y="2855952"/>
            <a:ext cx="2243495" cy="70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Inter"/>
              <a:buNone/>
            </a:pPr>
            <a:r>
              <a:rPr lang="en-US" sz="2200" b="1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Specific &amp; Measurable</a:t>
            </a:r>
            <a:endParaRPr sz="2200" b="0" i="0" u="none" strike="noStrike" cap="none"/>
          </a:p>
        </p:txBody>
      </p:sp>
      <p:sp>
        <p:nvSpPr>
          <p:cNvPr id="202" name="Google Shape;202;p21"/>
          <p:cNvSpPr/>
          <p:nvPr/>
        </p:nvSpPr>
        <p:spPr>
          <a:xfrm>
            <a:off x="1530906" y="3791426"/>
            <a:ext cx="2243495" cy="145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62857"/>
              </a:lnSpc>
              <a:buClr>
                <a:srgbClr val="272525"/>
              </a:buClr>
              <a:buSzPts val="1750"/>
            </a:pPr>
            <a:r>
              <a:rPr lang="en-US" sz="1800" dirty="0"/>
              <a:t>Ensure fair bidding regardless of internet speed</a:t>
            </a:r>
            <a:endParaRPr sz="1750" b="0" i="0" u="none" strike="noStrike" cap="none" dirty="0"/>
          </a:p>
        </p:txBody>
      </p:sp>
      <p:pic>
        <p:nvPicPr>
          <p:cNvPr id="203" name="Google Shape;203;p2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42899" y="2862977"/>
            <a:ext cx="340162" cy="340162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/>
          <p:nvPr/>
        </p:nvSpPr>
        <p:spPr>
          <a:xfrm>
            <a:off x="4795004" y="2855952"/>
            <a:ext cx="2243495" cy="708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Inter"/>
              <a:buNone/>
            </a:pPr>
            <a:r>
              <a:rPr lang="en-US" sz="2200" b="1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Achievable &amp; Relevant</a:t>
            </a:r>
            <a:endParaRPr sz="2200" b="0" i="0" u="none" strike="noStrike" cap="none"/>
          </a:p>
        </p:txBody>
      </p:sp>
      <p:sp>
        <p:nvSpPr>
          <p:cNvPr id="205" name="Google Shape;205;p21"/>
          <p:cNvSpPr/>
          <p:nvPr/>
        </p:nvSpPr>
        <p:spPr>
          <a:xfrm>
            <a:off x="4795004" y="3791426"/>
            <a:ext cx="2243495" cy="1451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62857"/>
              </a:lnSpc>
              <a:buClr>
                <a:srgbClr val="272525"/>
              </a:buClr>
              <a:buSzPts val="1750"/>
            </a:pPr>
            <a:r>
              <a:rPr lang="en-US" sz="1800" dirty="0"/>
              <a:t>Eliminate last-second unfair advantages</a:t>
            </a:r>
            <a:endParaRPr sz="1750" b="0" i="0" u="none" strike="noStrike" cap="none" dirty="0"/>
          </a:p>
        </p:txBody>
      </p:sp>
      <p:pic>
        <p:nvPicPr>
          <p:cNvPr id="206" name="Google Shape;206;p2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78800" y="5703689"/>
            <a:ext cx="340162" cy="340162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1"/>
          <p:cNvSpPr/>
          <p:nvPr/>
        </p:nvSpPr>
        <p:spPr>
          <a:xfrm>
            <a:off x="1530906" y="5696664"/>
            <a:ext cx="2835235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Inter"/>
              <a:buNone/>
            </a:pPr>
            <a:r>
              <a:rPr lang="en-US" sz="2200" b="1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Time-Bound</a:t>
            </a:r>
            <a:endParaRPr sz="2200" b="0" i="0" u="none" strike="noStrike" cap="none"/>
          </a:p>
        </p:txBody>
      </p:sp>
      <p:sp>
        <p:nvSpPr>
          <p:cNvPr id="208" name="Google Shape;208;p21"/>
          <p:cNvSpPr/>
          <p:nvPr/>
        </p:nvSpPr>
        <p:spPr>
          <a:xfrm>
            <a:off x="1530906" y="6277808"/>
            <a:ext cx="5507593" cy="725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62857"/>
              </a:lnSpc>
              <a:buClr>
                <a:srgbClr val="272525"/>
              </a:buClr>
              <a:buSzPts val="1750"/>
            </a:pPr>
            <a:r>
              <a:rPr lang="en-US" sz="1800" dirty="0"/>
              <a:t>Provide real-time synchronized auction system</a:t>
            </a:r>
            <a:endParaRPr sz="1750" b="0" i="0" u="none" strike="noStrike" cap="none" dirty="0"/>
          </a:p>
        </p:txBody>
      </p:sp>
      <p:sp>
        <p:nvSpPr>
          <p:cNvPr id="209" name="Google Shape;209;p21"/>
          <p:cNvSpPr/>
          <p:nvPr/>
        </p:nvSpPr>
        <p:spPr>
          <a:xfrm>
            <a:off x="7599520" y="2246470"/>
            <a:ext cx="3912541" cy="4732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Inter"/>
              <a:buNone/>
            </a:pPr>
            <a:r>
              <a:rPr lang="en-US" sz="2200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Key Success Metrics (KPIs)</a:t>
            </a:r>
            <a:endParaRPr sz="2200" b="0" i="0" u="none" strike="noStrike" cap="none" dirty="0"/>
          </a:p>
        </p:txBody>
      </p:sp>
      <p:sp>
        <p:nvSpPr>
          <p:cNvPr id="210" name="Google Shape;210;p21"/>
          <p:cNvSpPr/>
          <p:nvPr/>
        </p:nvSpPr>
        <p:spPr>
          <a:xfrm>
            <a:off x="7599521" y="2855952"/>
            <a:ext cx="3008948" cy="1775817"/>
          </a:xfrm>
          <a:prstGeom prst="roundRect">
            <a:avLst>
              <a:gd name="adj" fmla="val 5365"/>
            </a:avLst>
          </a:prstGeom>
          <a:solidFill>
            <a:srgbClr val="DADBF1"/>
          </a:solidFill>
          <a:ln w="9525" cap="flat" cmpd="sng">
            <a:solidFill>
              <a:srgbClr val="C0C1D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21"/>
          <p:cNvSpPr/>
          <p:nvPr/>
        </p:nvSpPr>
        <p:spPr>
          <a:xfrm>
            <a:off x="7833955" y="3090386"/>
            <a:ext cx="2540079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Inter"/>
              <a:buNone/>
            </a:pPr>
            <a:r>
              <a:rPr lang="en-US" sz="2200" b="1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Adoption Rate</a:t>
            </a:r>
            <a:endParaRPr sz="2200" b="0" i="0" u="none" strike="noStrike" cap="none"/>
          </a:p>
        </p:txBody>
      </p:sp>
      <p:sp>
        <p:nvSpPr>
          <p:cNvPr id="212" name="Google Shape;212;p21"/>
          <p:cNvSpPr/>
          <p:nvPr/>
        </p:nvSpPr>
        <p:spPr>
          <a:xfrm>
            <a:off x="7833955" y="3671530"/>
            <a:ext cx="2540079" cy="725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lang="en-US" sz="1750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10</a:t>
            </a:r>
            <a:r>
              <a:rPr lang="en-US" sz="1750" b="0" i="0" u="none" strike="noStrike" cap="none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active users in first 30 days</a:t>
            </a:r>
            <a:endParaRPr sz="1750" b="0" i="0" u="none" strike="noStrike" cap="none" dirty="0"/>
          </a:p>
        </p:txBody>
      </p:sp>
      <p:sp>
        <p:nvSpPr>
          <p:cNvPr id="213" name="Google Shape;213;p21"/>
          <p:cNvSpPr/>
          <p:nvPr/>
        </p:nvSpPr>
        <p:spPr>
          <a:xfrm>
            <a:off x="10835283" y="2855952"/>
            <a:ext cx="3008948" cy="1775817"/>
          </a:xfrm>
          <a:prstGeom prst="roundRect">
            <a:avLst>
              <a:gd name="adj" fmla="val 5365"/>
            </a:avLst>
          </a:prstGeom>
          <a:solidFill>
            <a:srgbClr val="DADBF1"/>
          </a:solidFill>
          <a:ln w="9525" cap="flat" cmpd="sng">
            <a:solidFill>
              <a:srgbClr val="C0C1D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21"/>
          <p:cNvSpPr/>
          <p:nvPr/>
        </p:nvSpPr>
        <p:spPr>
          <a:xfrm>
            <a:off x="11069717" y="3090386"/>
            <a:ext cx="2540079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Inter"/>
              <a:buNone/>
            </a:pPr>
            <a:r>
              <a:rPr lang="en-US" sz="2200" b="1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Accuracy</a:t>
            </a:r>
            <a:endParaRPr sz="2200" b="0" i="0" u="none" strike="noStrike" cap="none"/>
          </a:p>
        </p:txBody>
      </p:sp>
      <p:sp>
        <p:nvSpPr>
          <p:cNvPr id="215" name="Google Shape;215;p21"/>
          <p:cNvSpPr/>
          <p:nvPr/>
        </p:nvSpPr>
        <p:spPr>
          <a:xfrm>
            <a:off x="11069717" y="3671530"/>
            <a:ext cx="2540079" cy="725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lang="en-US" sz="1750" b="0" i="0" u="none" strike="noStrike" cap="none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≥ 90% model or process precision</a:t>
            </a:r>
            <a:endParaRPr sz="1750" b="0" i="0" u="none" strike="noStrike" cap="none" dirty="0"/>
          </a:p>
        </p:txBody>
      </p:sp>
      <p:sp>
        <p:nvSpPr>
          <p:cNvPr id="216" name="Google Shape;216;p21"/>
          <p:cNvSpPr/>
          <p:nvPr/>
        </p:nvSpPr>
        <p:spPr>
          <a:xfrm>
            <a:off x="7599521" y="4858583"/>
            <a:ext cx="3008948" cy="1775817"/>
          </a:xfrm>
          <a:prstGeom prst="roundRect">
            <a:avLst>
              <a:gd name="adj" fmla="val 5365"/>
            </a:avLst>
          </a:prstGeom>
          <a:solidFill>
            <a:srgbClr val="DADBF1"/>
          </a:solidFill>
          <a:ln w="9525" cap="flat" cmpd="sng">
            <a:solidFill>
              <a:srgbClr val="C0C1D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21"/>
          <p:cNvSpPr/>
          <p:nvPr/>
        </p:nvSpPr>
        <p:spPr>
          <a:xfrm>
            <a:off x="7833955" y="5093018"/>
            <a:ext cx="2540079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Inter"/>
              <a:buNone/>
            </a:pPr>
            <a:r>
              <a:rPr lang="en-US" sz="2200" b="1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NPS Score</a:t>
            </a:r>
            <a:endParaRPr sz="2200" b="0" i="0" u="none" strike="noStrike" cap="none"/>
          </a:p>
        </p:txBody>
      </p:sp>
      <p:sp>
        <p:nvSpPr>
          <p:cNvPr id="218" name="Google Shape;218;p21"/>
          <p:cNvSpPr/>
          <p:nvPr/>
        </p:nvSpPr>
        <p:spPr>
          <a:xfrm>
            <a:off x="7833955" y="5674162"/>
            <a:ext cx="2540079" cy="725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1750"/>
              <a:buFont typeface="Inter"/>
              <a:buNone/>
            </a:pPr>
            <a:r>
              <a:rPr lang="en-US" sz="1750" b="0" i="0" u="none" strike="noStrike" cap="none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User satisfaction ≥ 8/10</a:t>
            </a:r>
            <a:endParaRPr sz="1750" b="0" i="0" u="none" strike="noStrike" cap="none" dirty="0"/>
          </a:p>
        </p:txBody>
      </p:sp>
      <p:sp>
        <p:nvSpPr>
          <p:cNvPr id="219" name="Google Shape;219;p21"/>
          <p:cNvSpPr/>
          <p:nvPr/>
        </p:nvSpPr>
        <p:spPr>
          <a:xfrm>
            <a:off x="10835283" y="4858583"/>
            <a:ext cx="3008948" cy="1775817"/>
          </a:xfrm>
          <a:prstGeom prst="roundRect">
            <a:avLst>
              <a:gd name="adj" fmla="val 5365"/>
            </a:avLst>
          </a:prstGeom>
          <a:solidFill>
            <a:srgbClr val="DADBF1"/>
          </a:solidFill>
          <a:ln w="9525" cap="flat" cmpd="sng">
            <a:solidFill>
              <a:srgbClr val="C0C1D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21"/>
          <p:cNvSpPr/>
          <p:nvPr/>
        </p:nvSpPr>
        <p:spPr>
          <a:xfrm>
            <a:off x="11069717" y="5093018"/>
            <a:ext cx="2540079" cy="354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72525"/>
              </a:buClr>
              <a:buSzPts val="2200"/>
              <a:buFont typeface="Inter"/>
              <a:buNone/>
            </a:pPr>
            <a:r>
              <a:rPr lang="en-US" sz="2200" b="1" i="0" u="none" strike="noStrike" cap="none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Cost Saved</a:t>
            </a:r>
            <a:endParaRPr sz="2200" b="0" i="0" u="none" strike="noStrike" cap="none"/>
          </a:p>
        </p:txBody>
      </p:sp>
      <p:sp>
        <p:nvSpPr>
          <p:cNvPr id="221" name="Google Shape;221;p21"/>
          <p:cNvSpPr/>
          <p:nvPr/>
        </p:nvSpPr>
        <p:spPr>
          <a:xfrm>
            <a:off x="11069717" y="5674162"/>
            <a:ext cx="2540079" cy="725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62857"/>
              </a:lnSpc>
              <a:buClr>
                <a:srgbClr val="272525"/>
              </a:buClr>
              <a:buSzPts val="1750"/>
            </a:pPr>
            <a:r>
              <a:rPr lang="en-US" sz="1800" dirty="0"/>
              <a:t>50% reduction in unfair bids</a:t>
            </a:r>
            <a:endParaRPr sz="1750" b="0" i="0" u="none" strike="noStrike" cap="none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2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22"/>
          <p:cNvSpPr/>
          <p:nvPr/>
        </p:nvSpPr>
        <p:spPr>
          <a:xfrm>
            <a:off x="6205776" y="700445"/>
            <a:ext cx="7705249" cy="12846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2625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Inter"/>
              <a:buNone/>
            </a:pPr>
            <a:r>
              <a:rPr lang="en-US" sz="4000" b="1" i="0" u="none" strike="noStrike" cap="none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Constraints, Assumptions &amp; Future Scope</a:t>
            </a:r>
            <a:endParaRPr sz="4000" b="0" i="0" u="none" strike="noStrike" cap="none"/>
          </a:p>
        </p:txBody>
      </p:sp>
      <p:sp>
        <p:nvSpPr>
          <p:cNvPr id="229" name="Google Shape;229;p22"/>
          <p:cNvSpPr/>
          <p:nvPr/>
        </p:nvSpPr>
        <p:spPr>
          <a:xfrm>
            <a:off x="6205776" y="2264450"/>
            <a:ext cx="7705249" cy="3599021"/>
          </a:xfrm>
          <a:prstGeom prst="roundRect">
            <a:avLst>
              <a:gd name="adj" fmla="val 2399"/>
            </a:avLst>
          </a:prstGeom>
          <a:solidFill>
            <a:srgbClr val="DADBF1"/>
          </a:solidFill>
          <a:ln w="9525" cap="flat" cmpd="sng">
            <a:solidFill>
              <a:srgbClr val="C0C1D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22"/>
          <p:cNvSpPr/>
          <p:nvPr/>
        </p:nvSpPr>
        <p:spPr>
          <a:xfrm>
            <a:off x="6213396" y="2272070"/>
            <a:ext cx="3845004" cy="2105382"/>
          </a:xfrm>
          <a:prstGeom prst="roundRect">
            <a:avLst>
              <a:gd name="adj" fmla="val 4101"/>
            </a:avLst>
          </a:prstGeom>
          <a:solidFill>
            <a:srgbClr val="DADB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22"/>
          <p:cNvSpPr/>
          <p:nvPr/>
        </p:nvSpPr>
        <p:spPr>
          <a:xfrm>
            <a:off x="6418898" y="2477572"/>
            <a:ext cx="3205748" cy="328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Inter"/>
              <a:buNone/>
            </a:pPr>
            <a:r>
              <a:rPr lang="en-US" sz="2000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⚙️</a:t>
            </a:r>
            <a:r>
              <a:rPr lang="en-US" sz="2000" b="1" i="0" u="none" strike="noStrike" cap="none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Technical Constraints</a:t>
            </a:r>
            <a:endParaRPr sz="2000" b="0" i="0" u="none" strike="noStrike" cap="none" dirty="0"/>
          </a:p>
        </p:txBody>
      </p:sp>
      <p:sp>
        <p:nvSpPr>
          <p:cNvPr id="232" name="Google Shape;232;p22"/>
          <p:cNvSpPr/>
          <p:nvPr/>
        </p:nvSpPr>
        <p:spPr>
          <a:xfrm>
            <a:off x="6418898" y="2917984"/>
            <a:ext cx="3434001" cy="1253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buClr>
                <a:srgbClr val="272525"/>
              </a:buClr>
              <a:buSzPts val="1600"/>
            </a:pPr>
            <a:r>
              <a:rPr lang="en-US" sz="1600" dirty="0"/>
              <a:t>Real-time bid synchronization under varying network latency Firebase free-tier limitations </a:t>
            </a:r>
            <a:endParaRPr sz="1600" b="0" i="0" u="none" strike="noStrike" cap="none" dirty="0"/>
          </a:p>
        </p:txBody>
      </p:sp>
      <p:sp>
        <p:nvSpPr>
          <p:cNvPr id="233" name="Google Shape;233;p22"/>
          <p:cNvSpPr/>
          <p:nvPr/>
        </p:nvSpPr>
        <p:spPr>
          <a:xfrm>
            <a:off x="10058400" y="2272070"/>
            <a:ext cx="3845004" cy="2105382"/>
          </a:xfrm>
          <a:prstGeom prst="rect">
            <a:avLst/>
          </a:prstGeom>
          <a:solidFill>
            <a:srgbClr val="DADB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22"/>
          <p:cNvSpPr/>
          <p:nvPr/>
        </p:nvSpPr>
        <p:spPr>
          <a:xfrm>
            <a:off x="10058400" y="2272070"/>
            <a:ext cx="22860" cy="2105382"/>
          </a:xfrm>
          <a:prstGeom prst="roundRect">
            <a:avLst>
              <a:gd name="adj" fmla="val 377674"/>
            </a:avLst>
          </a:prstGeom>
          <a:solidFill>
            <a:srgbClr val="C0C1D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22"/>
          <p:cNvSpPr/>
          <p:nvPr/>
        </p:nvSpPr>
        <p:spPr>
          <a:xfrm>
            <a:off x="10263901" y="2477572"/>
            <a:ext cx="3434001" cy="328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Inter"/>
              <a:buNone/>
            </a:pPr>
            <a:r>
              <a:rPr lang="en-US" sz="2000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⏱️</a:t>
            </a:r>
            <a:r>
              <a:rPr lang="en-US" sz="2000" b="1" i="0" u="none" strike="noStrike" cap="none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Resource Limitations</a:t>
            </a:r>
            <a:endParaRPr sz="2000" b="0" i="0" u="none" strike="noStrike" cap="none" dirty="0"/>
          </a:p>
        </p:txBody>
      </p:sp>
      <p:sp>
        <p:nvSpPr>
          <p:cNvPr id="236" name="Google Shape;236;p22"/>
          <p:cNvSpPr/>
          <p:nvPr/>
        </p:nvSpPr>
        <p:spPr>
          <a:xfrm>
            <a:off x="10263901" y="2823925"/>
            <a:ext cx="3434001" cy="12768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buClr>
                <a:srgbClr val="272525"/>
              </a:buClr>
              <a:buSzPts val="1600"/>
            </a:pPr>
            <a:r>
              <a:rPr lang="en-US" dirty="0"/>
              <a:t>Developed within 24-hour hackathon time frame </a:t>
            </a:r>
          </a:p>
          <a:p>
            <a:pPr lvl="0">
              <a:buClr>
                <a:srgbClr val="272525"/>
              </a:buClr>
              <a:buSzPts val="1600"/>
            </a:pPr>
            <a:r>
              <a:rPr lang="en-US" dirty="0"/>
              <a:t>Small team  (3–4 members) managing frontend    + backend </a:t>
            </a:r>
          </a:p>
          <a:p>
            <a:pPr lvl="0">
              <a:buClr>
                <a:srgbClr val="272525"/>
              </a:buClr>
              <a:buSzPts val="1600"/>
            </a:pPr>
            <a:r>
              <a:rPr lang="en-US" dirty="0"/>
              <a:t>Limited access to paid APIs / cloud scaling tools</a:t>
            </a:r>
            <a:endParaRPr b="0" i="0" u="none" strike="noStrike" cap="none" dirty="0"/>
          </a:p>
        </p:txBody>
      </p:sp>
      <p:sp>
        <p:nvSpPr>
          <p:cNvPr id="237" name="Google Shape;237;p22"/>
          <p:cNvSpPr/>
          <p:nvPr/>
        </p:nvSpPr>
        <p:spPr>
          <a:xfrm>
            <a:off x="6110645" y="4118372"/>
            <a:ext cx="7690009" cy="1478399"/>
          </a:xfrm>
          <a:prstGeom prst="rect">
            <a:avLst/>
          </a:prstGeom>
          <a:solidFill>
            <a:srgbClr val="DADB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22"/>
          <p:cNvSpPr/>
          <p:nvPr/>
        </p:nvSpPr>
        <p:spPr>
          <a:xfrm>
            <a:off x="6213396" y="4377452"/>
            <a:ext cx="7690009" cy="22860"/>
          </a:xfrm>
          <a:prstGeom prst="roundRect">
            <a:avLst>
              <a:gd name="adj" fmla="val 377674"/>
            </a:avLst>
          </a:prstGeom>
          <a:solidFill>
            <a:srgbClr val="C0C1D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22"/>
          <p:cNvSpPr/>
          <p:nvPr/>
        </p:nvSpPr>
        <p:spPr>
          <a:xfrm>
            <a:off x="6418898" y="4582954"/>
            <a:ext cx="2569488" cy="3287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Inter"/>
              <a:buNone/>
            </a:pPr>
            <a:r>
              <a:rPr lang="en-US" sz="2000" b="1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🔭</a:t>
            </a:r>
            <a:r>
              <a:rPr lang="en-US" sz="2000" b="1" i="0" u="none" strike="noStrike" cap="none" dirty="0">
                <a:solidFill>
                  <a:srgbClr val="272525"/>
                </a:solidFill>
                <a:latin typeface="Inter"/>
                <a:ea typeface="Inter"/>
                <a:cs typeface="Inter"/>
                <a:sym typeface="Inter"/>
              </a:rPr>
              <a:t> Future Scope</a:t>
            </a:r>
            <a:endParaRPr sz="2000" b="0" i="0" u="none" strike="noStrike" cap="none" dirty="0"/>
          </a:p>
        </p:txBody>
      </p:sp>
      <p:sp>
        <p:nvSpPr>
          <p:cNvPr id="240" name="Google Shape;240;p22"/>
          <p:cNvSpPr/>
          <p:nvPr/>
        </p:nvSpPr>
        <p:spPr>
          <a:xfrm>
            <a:off x="6418898" y="5023366"/>
            <a:ext cx="7279005" cy="6269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buClr>
                <a:srgbClr val="272525"/>
              </a:buClr>
              <a:buSzPts val="1600"/>
            </a:pPr>
            <a:r>
              <a:rPr lang="en-US" dirty="0"/>
              <a:t>AI-based fraud detection for suspicious bidding patterns Blockchain-based transparent bid audit system Multi-region deployment for global latency balancing Integration with e-commerce &amp; </a:t>
            </a:r>
            <a:r>
              <a:rPr lang="en-US"/>
              <a:t>auction platforms Advanced </a:t>
            </a:r>
            <a:r>
              <a:rPr lang="en-US" dirty="0"/>
              <a:t>analytics dashboard with predictive pricing insights</a:t>
            </a:r>
            <a:endParaRPr b="0" i="0" u="none" strike="noStrike" cap="none" dirty="0"/>
          </a:p>
        </p:txBody>
      </p:sp>
      <p:sp>
        <p:nvSpPr>
          <p:cNvPr id="241" name="Google Shape;241;p22"/>
          <p:cNvSpPr/>
          <p:nvPr/>
        </p:nvSpPr>
        <p:spPr>
          <a:xfrm>
            <a:off x="6205776" y="6073021"/>
            <a:ext cx="7705249" cy="1456015"/>
          </a:xfrm>
          <a:prstGeom prst="roundRect">
            <a:avLst>
              <a:gd name="adj" fmla="val 5930"/>
            </a:avLst>
          </a:prstGeom>
          <a:solidFill>
            <a:srgbClr val="B6FCB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42" name="Google Shape;242;p22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11278" y="6378535"/>
            <a:ext cx="256937" cy="205502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2"/>
          <p:cNvSpPr/>
          <p:nvPr/>
        </p:nvSpPr>
        <p:spPr>
          <a:xfrm>
            <a:off x="6873716" y="6310551"/>
            <a:ext cx="6831806" cy="9480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5312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Inter"/>
              <a:buNone/>
            </a:pPr>
            <a:r>
              <a:rPr lang="en-US" sz="1600" b="0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Thank you for your time! We welcome your questions, feedback, and mentorship. 📬 </a:t>
            </a:r>
            <a:r>
              <a:rPr lang="en-US" sz="1600" dirty="0">
                <a:latin typeface="Inter"/>
                <a:ea typeface="Inter"/>
                <a:cs typeface="Inter"/>
                <a:sym typeface="Inter"/>
              </a:rPr>
              <a:t>ananddharwad07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@email.com </a:t>
            </a:r>
          </a:p>
          <a:p>
            <a:pPr lvl="0">
              <a:lnSpc>
                <a:spcPct val="153125"/>
              </a:lnSpc>
              <a:buSzPts val="1600"/>
            </a:pPr>
            <a:r>
              <a:rPr lang="en-US" sz="1600" dirty="0"/>
              <a:t>github.com/anand451/404-Crackers-fairBid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· @</a:t>
            </a:r>
            <a:r>
              <a:rPr lang="en-US" sz="1600" dirty="0">
                <a:latin typeface="Inter"/>
                <a:ea typeface="Inter"/>
                <a:cs typeface="Inter"/>
                <a:sym typeface="Inter"/>
              </a:rPr>
              <a:t>404-Crackers</a:t>
            </a:r>
            <a:endParaRPr sz="1600" b="0" i="0" u="none" strike="noStrike" cap="none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565</Words>
  <Application>Microsoft Office PowerPoint</Application>
  <PresentationFormat>Custom</PresentationFormat>
  <Paragraphs>110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Calibri</vt:lpstr>
      <vt:lpstr>Inter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Lenovo</dc:creator>
  <cp:lastModifiedBy>Anand .</cp:lastModifiedBy>
  <cp:revision>1</cp:revision>
  <dcterms:modified xsi:type="dcterms:W3CDTF">2026-05-05T16:30:04Z</dcterms:modified>
</cp:coreProperties>
</file>